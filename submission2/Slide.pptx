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4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8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7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1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3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9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60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07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5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7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3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376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83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0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49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05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73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8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922D1-D8A7-47C7-A160-2D394EB7412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DE846-1528-4B07-9016-0C7A68839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57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2B9B3-6039-0438-0149-6748C76E4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2744" y="1038542"/>
            <a:ext cx="8791575" cy="2473643"/>
          </a:xfrm>
        </p:spPr>
        <p:txBody>
          <a:bodyPr>
            <a:noAutofit/>
          </a:bodyPr>
          <a:lstStyle/>
          <a:p>
            <a:r>
              <a:rPr lang="en-US" sz="4400" dirty="0"/>
              <a:t>Research on Security Model Design Based on Computational Network and Natural Language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38934-4C0D-D2C4-1C82-85A9BE1E5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2745" y="4170997"/>
            <a:ext cx="8507096" cy="2473643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Created BY:</a:t>
            </a:r>
          </a:p>
          <a:p>
            <a:pPr algn="r"/>
            <a:r>
              <a:rPr lang="en-US" sz="2400" dirty="0" err="1"/>
              <a:t>Ramisa</a:t>
            </a:r>
            <a:r>
              <a:rPr lang="en-US" sz="2400" dirty="0"/>
              <a:t> </a:t>
            </a:r>
            <a:r>
              <a:rPr lang="en-US" sz="2400" dirty="0" err="1"/>
              <a:t>fariha</a:t>
            </a:r>
            <a:r>
              <a:rPr lang="en-US" sz="2400" dirty="0"/>
              <a:t> </a:t>
            </a:r>
            <a:r>
              <a:rPr lang="en-US" sz="2400" dirty="0" err="1"/>
              <a:t>prova</a:t>
            </a:r>
            <a:endParaRPr lang="en-US" sz="2400" dirty="0"/>
          </a:p>
          <a:p>
            <a:pPr algn="r"/>
            <a:r>
              <a:rPr lang="en-US" sz="2400" dirty="0"/>
              <a:t>Id: 20301001</a:t>
            </a:r>
          </a:p>
          <a:p>
            <a:pPr algn="r"/>
            <a:r>
              <a:rPr lang="en-US" sz="2400" dirty="0"/>
              <a:t>Section: 01</a:t>
            </a:r>
          </a:p>
        </p:txBody>
      </p:sp>
    </p:spTree>
    <p:extLst>
      <p:ext uri="{BB962C8B-B14F-4D97-AF65-F5344CB8AC3E}">
        <p14:creationId xmlns:p14="http://schemas.microsoft.com/office/powerpoint/2010/main" val="360359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85E1-B08E-CF4A-6EC6-574577401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319" y="394998"/>
            <a:ext cx="9746931" cy="966442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8D07-58EB-8384-B49F-60D319506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131" y="1361440"/>
            <a:ext cx="9206550" cy="5101562"/>
          </a:xfrm>
        </p:spPr>
        <p:txBody>
          <a:bodyPr>
            <a:noAutofit/>
          </a:bodyPr>
          <a:lstStyle/>
          <a:p>
            <a:r>
              <a:rPr lang="en-US" sz="2500" dirty="0"/>
              <a:t>Motivation:</a:t>
            </a:r>
          </a:p>
          <a:p>
            <a:pPr lvl="1"/>
            <a:r>
              <a:rPr lang="en-US" sz="2500" dirty="0"/>
              <a:t>Rapid growth in data accumulation across various domains.</a:t>
            </a:r>
          </a:p>
          <a:p>
            <a:pPr lvl="1"/>
            <a:r>
              <a:rPr lang="en-US" sz="2500" dirty="0"/>
              <a:t>Increasing demand for efficient text classification and recognition.</a:t>
            </a:r>
          </a:p>
          <a:p>
            <a:pPr lvl="1"/>
            <a:r>
              <a:rPr lang="en-US" sz="2500" dirty="0"/>
              <a:t>Emergence of deep learning neural networks in natural language processing (NLP).</a:t>
            </a:r>
          </a:p>
          <a:p>
            <a:r>
              <a:rPr lang="en-US" sz="2500" dirty="0"/>
              <a:t>Objective:</a:t>
            </a:r>
          </a:p>
          <a:p>
            <a:pPr lvl="1"/>
            <a:r>
              <a:rPr lang="en-US" sz="2500" dirty="0"/>
              <a:t>Improve the efficiency and accuracy of text classification and recognition.</a:t>
            </a:r>
          </a:p>
          <a:p>
            <a:pPr lvl="1"/>
            <a:r>
              <a:rPr lang="en-US" sz="2500" dirty="0"/>
              <a:t>Mine relationship information between texts to enhance NLP-related tasks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130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949A-2529-D755-18E1-5B4A8AEB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50240"/>
            <a:ext cx="9905998" cy="1263968"/>
          </a:xfrm>
        </p:spPr>
        <p:txBody>
          <a:bodyPr/>
          <a:lstStyle/>
          <a:p>
            <a:pPr algn="ctr"/>
            <a:r>
              <a:rPr lang="en-US" dirty="0"/>
              <a:t>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ABC98-0487-BF71-437B-A7323E133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0" y="1914208"/>
            <a:ext cx="9625011" cy="4730432"/>
          </a:xfrm>
        </p:spPr>
        <p:txBody>
          <a:bodyPr>
            <a:noAutofit/>
          </a:bodyPr>
          <a:lstStyle/>
          <a:p>
            <a:r>
              <a:rPr lang="en-US" sz="2800" dirty="0"/>
              <a:t>Data Explosion:</a:t>
            </a:r>
          </a:p>
          <a:p>
            <a:pPr lvl="1"/>
            <a:r>
              <a:rPr lang="en-US" sz="2800" dirty="0"/>
              <a:t>Unprecedented data growth in commerce, enterprises, research, and government.</a:t>
            </a:r>
          </a:p>
          <a:p>
            <a:pPr lvl="1"/>
            <a:r>
              <a:rPr lang="en-US" sz="2800" dirty="0"/>
              <a:t>Challenge: Extracting meaningful information conveniently.</a:t>
            </a:r>
          </a:p>
          <a:p>
            <a:r>
              <a:rPr lang="en-US" sz="2800" dirty="0"/>
              <a:t>Role of Deep Learning:</a:t>
            </a:r>
          </a:p>
          <a:p>
            <a:pPr lvl="1"/>
            <a:r>
              <a:rPr lang="en-US" sz="2800" dirty="0"/>
              <a:t>Application of deep learning neural networks in NLP.</a:t>
            </a:r>
          </a:p>
          <a:p>
            <a:pPr lvl="1"/>
            <a:r>
              <a:rPr lang="en-US" sz="2800" dirty="0"/>
              <a:t>Utilizing vector representation to enhance text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29403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74B9-6477-9E06-4279-B576569B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1654"/>
            <a:ext cx="9905998" cy="1030289"/>
          </a:xfrm>
        </p:spPr>
        <p:txBody>
          <a:bodyPr/>
          <a:lstStyle/>
          <a:p>
            <a:pPr algn="ctr"/>
            <a:r>
              <a:rPr lang="en-US" dirty="0"/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1D7ED-9B9C-8C00-2D12-A3A89C109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439" y="1581943"/>
            <a:ext cx="9685971" cy="5001737"/>
          </a:xfrm>
        </p:spPr>
        <p:txBody>
          <a:bodyPr>
            <a:normAutofit/>
          </a:bodyPr>
          <a:lstStyle/>
          <a:p>
            <a:r>
              <a:rPr lang="en-US" sz="2800" dirty="0"/>
              <a:t>Comprehensive Dataset:</a:t>
            </a:r>
          </a:p>
          <a:p>
            <a:pPr lvl="1"/>
            <a:r>
              <a:rPr lang="en-US" sz="2800" dirty="0"/>
              <a:t>Selection of a diverse text dataset from </a:t>
            </a:r>
            <a:r>
              <a:rPr lang="en-US" sz="2800" dirty="0" err="1"/>
              <a:t>Sogou</a:t>
            </a:r>
            <a:r>
              <a:rPr lang="en-US" sz="2800" dirty="0"/>
              <a:t> laboratory.</a:t>
            </a:r>
          </a:p>
          <a:p>
            <a:pPr lvl="1"/>
            <a:r>
              <a:rPr lang="en-US" sz="2800" dirty="0"/>
              <a:t>Preprocessing for more reasonable and effective experiments.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Algorithm Comparison:</a:t>
            </a:r>
          </a:p>
          <a:p>
            <a:pPr lvl="1"/>
            <a:r>
              <a:rPr lang="en-US" sz="2800" dirty="0"/>
              <a:t>Comparing three NLP models: LSTM, </a:t>
            </a:r>
            <a:r>
              <a:rPr lang="en-US" sz="2800" dirty="0" err="1"/>
              <a:t>FastText</a:t>
            </a:r>
            <a:r>
              <a:rPr lang="en-US" sz="2800" dirty="0"/>
              <a:t>, and GCN.</a:t>
            </a:r>
          </a:p>
          <a:p>
            <a:pPr lvl="1"/>
            <a:r>
              <a:rPr lang="en-US" sz="2800" dirty="0"/>
              <a:t>Introduction of an anti-overfitting algorithm for enhanced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29655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69165-345A-21A4-45BF-58A21792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5120"/>
            <a:ext cx="9905998" cy="877890"/>
          </a:xfrm>
        </p:spPr>
        <p:txBody>
          <a:bodyPr/>
          <a:lstStyle/>
          <a:p>
            <a:pPr algn="ctr"/>
            <a:r>
              <a:rPr lang="en-US" dirty="0"/>
              <a:t>Experimental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2923-82F8-D532-4F05-43C4F51D3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440" y="1402080"/>
            <a:ext cx="9685971" cy="5283199"/>
          </a:xfrm>
        </p:spPr>
        <p:txBody>
          <a:bodyPr>
            <a:noAutofit/>
          </a:bodyPr>
          <a:lstStyle/>
          <a:p>
            <a:r>
              <a:rPr lang="en-US" dirty="0"/>
              <a:t>Environment Configuration:</a:t>
            </a:r>
          </a:p>
          <a:p>
            <a:pPr lvl="1"/>
            <a:r>
              <a:rPr lang="en-US" sz="2400" dirty="0"/>
              <a:t>Hardware: AMD R6-5600 CPU, 16 GB memory.</a:t>
            </a:r>
          </a:p>
          <a:p>
            <a:pPr lvl="1"/>
            <a:r>
              <a:rPr lang="en-US" sz="2400" dirty="0"/>
              <a:t>Software: Python, </a:t>
            </a:r>
            <a:r>
              <a:rPr lang="en-US" sz="2400" dirty="0" err="1"/>
              <a:t>PyTorch</a:t>
            </a:r>
            <a:r>
              <a:rPr lang="en-US" sz="2400" dirty="0"/>
              <a:t> under Windows 10.</a:t>
            </a:r>
          </a:p>
          <a:p>
            <a:r>
              <a:rPr lang="en-US" dirty="0"/>
              <a:t>Corpus Preparation:</a:t>
            </a:r>
          </a:p>
          <a:p>
            <a:pPr lvl="1"/>
            <a:r>
              <a:rPr lang="en-US" sz="2400" dirty="0"/>
              <a:t>Selection of a strong, comprehensive text dataset.</a:t>
            </a:r>
          </a:p>
          <a:p>
            <a:pPr lvl="1"/>
            <a:r>
              <a:rPr lang="en-US" sz="2400" dirty="0"/>
              <a:t>Preprocessing </a:t>
            </a:r>
            <a:r>
              <a:rPr lang="en-US" sz="2400" dirty="0" err="1"/>
              <a:t>Sogou</a:t>
            </a:r>
            <a:r>
              <a:rPr lang="en-US" sz="2400" dirty="0"/>
              <a:t> Lab news data for efficiency.</a:t>
            </a:r>
          </a:p>
          <a:p>
            <a:r>
              <a:rPr lang="en-US" dirty="0"/>
              <a:t>Experimental Steps:</a:t>
            </a:r>
          </a:p>
          <a:p>
            <a:pPr lvl="1"/>
            <a:r>
              <a:rPr lang="en-US" sz="2400" dirty="0"/>
              <a:t>Statistical analysis on the accuracy of training and test sets.</a:t>
            </a:r>
          </a:p>
          <a:p>
            <a:pPr lvl="1"/>
            <a:r>
              <a:rPr lang="en-US" sz="2400" dirty="0"/>
              <a:t>Evaluation of multiple NLP models using precision, recall, accuracy, and F1 score.</a:t>
            </a:r>
          </a:p>
        </p:txBody>
      </p:sp>
    </p:spTree>
    <p:extLst>
      <p:ext uri="{BB962C8B-B14F-4D97-AF65-F5344CB8AC3E}">
        <p14:creationId xmlns:p14="http://schemas.microsoft.com/office/powerpoint/2010/main" val="127137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87C75-38E2-0BD7-3814-2BA102C2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44974"/>
            <a:ext cx="9905998" cy="1099345"/>
          </a:xfrm>
        </p:spPr>
        <p:txBody>
          <a:bodyPr/>
          <a:lstStyle/>
          <a:p>
            <a:pPr algn="ctr"/>
            <a:r>
              <a:rPr lang="en-US" dirty="0"/>
              <a:t>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61FD8-E901-30CE-D6B4-5B98E40C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680" y="1544320"/>
            <a:ext cx="9543731" cy="5140960"/>
          </a:xfrm>
        </p:spPr>
        <p:txBody>
          <a:bodyPr>
            <a:normAutofit/>
          </a:bodyPr>
          <a:lstStyle/>
          <a:p>
            <a:r>
              <a:rPr lang="en-US" dirty="0"/>
              <a:t>Accuracy Comparison:</a:t>
            </a:r>
          </a:p>
          <a:p>
            <a:pPr lvl="1"/>
            <a:r>
              <a:rPr lang="en-US" sz="2400" dirty="0"/>
              <a:t>GCN outperforms LSTM and </a:t>
            </a:r>
            <a:r>
              <a:rPr lang="en-US" sz="2400" dirty="0" err="1"/>
              <a:t>FastText</a:t>
            </a:r>
            <a:r>
              <a:rPr lang="en-US" sz="2400" dirty="0"/>
              <a:t> in text classification.</a:t>
            </a:r>
          </a:p>
          <a:p>
            <a:pPr lvl="1"/>
            <a:r>
              <a:rPr lang="en-US" sz="2400" dirty="0"/>
              <a:t>Faster convergence and optimal values with GCN.</a:t>
            </a:r>
          </a:p>
          <a:p>
            <a:r>
              <a:rPr lang="en-US" dirty="0"/>
              <a:t>Overfitting Analysis:</a:t>
            </a:r>
          </a:p>
          <a:p>
            <a:pPr lvl="1"/>
            <a:r>
              <a:rPr lang="en-US" sz="2400" dirty="0"/>
              <a:t>Comparison of algorithms with and without anti-overfitting.</a:t>
            </a:r>
          </a:p>
          <a:p>
            <a:pPr lvl="1"/>
            <a:r>
              <a:rPr lang="en-US" sz="2400" dirty="0"/>
              <a:t>Superior performance of the Dropout algorithm.</a:t>
            </a:r>
          </a:p>
          <a:p>
            <a:r>
              <a:rPr lang="en-US" dirty="0"/>
              <a:t>Word Embedding Model Analysis:</a:t>
            </a:r>
          </a:p>
          <a:p>
            <a:pPr lvl="1"/>
            <a:r>
              <a:rPr lang="en-US" sz="2400" dirty="0"/>
              <a:t>Evaluation of Word2Vec, </a:t>
            </a:r>
            <a:r>
              <a:rPr lang="en-US" sz="2400" dirty="0" err="1"/>
              <a:t>GloVe</a:t>
            </a:r>
            <a:r>
              <a:rPr lang="en-US" sz="2400" dirty="0"/>
              <a:t>, and N-Gram features.</a:t>
            </a:r>
          </a:p>
          <a:p>
            <a:pPr lvl="1"/>
            <a:r>
              <a:rPr lang="en-US" sz="2400" dirty="0"/>
              <a:t>Best performance with N-Gram-GCN based on experimental results.</a:t>
            </a:r>
          </a:p>
        </p:txBody>
      </p:sp>
    </p:spTree>
    <p:extLst>
      <p:ext uri="{BB962C8B-B14F-4D97-AF65-F5344CB8AC3E}">
        <p14:creationId xmlns:p14="http://schemas.microsoft.com/office/powerpoint/2010/main" val="18432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3805-A026-BB61-C7F6-65203949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89280"/>
            <a:ext cx="9905998" cy="1304608"/>
          </a:xfrm>
        </p:spPr>
        <p:txBody>
          <a:bodyPr/>
          <a:lstStyle/>
          <a:p>
            <a:pPr algn="ctr"/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C985-0650-F3D5-DE3F-492510149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480" y="1893888"/>
            <a:ext cx="9746931" cy="4730431"/>
          </a:xfrm>
        </p:spPr>
        <p:txBody>
          <a:bodyPr>
            <a:noAutofit/>
          </a:bodyPr>
          <a:lstStyle/>
          <a:p>
            <a:r>
              <a:rPr lang="en-US" sz="2800" dirty="0"/>
              <a:t>Communication in Natural Language:</a:t>
            </a:r>
          </a:p>
          <a:p>
            <a:pPr lvl="1"/>
            <a:r>
              <a:rPr lang="en-US" sz="2800" dirty="0"/>
              <a:t>Pursuit of interacting with computers using natural language.</a:t>
            </a:r>
          </a:p>
          <a:p>
            <a:pPr lvl="1"/>
            <a:r>
              <a:rPr lang="en-US" sz="2800" dirty="0"/>
              <a:t>Practical and theoretical significance.</a:t>
            </a:r>
          </a:p>
          <a:p>
            <a:r>
              <a:rPr lang="en-US" sz="2800" dirty="0"/>
              <a:t>Research Focus:</a:t>
            </a:r>
          </a:p>
          <a:p>
            <a:pPr lvl="1"/>
            <a:r>
              <a:rPr lang="en-US" sz="2800" dirty="0"/>
              <a:t>Designing a high-performing NLP calculation model.</a:t>
            </a:r>
          </a:p>
          <a:p>
            <a:pPr lvl="1"/>
            <a:r>
              <a:rPr lang="en-US" sz="2800" dirty="0"/>
              <a:t>Exploration of computer understanding of natural language texts.</a:t>
            </a:r>
          </a:p>
        </p:txBody>
      </p:sp>
    </p:spTree>
    <p:extLst>
      <p:ext uri="{BB962C8B-B14F-4D97-AF65-F5344CB8AC3E}">
        <p14:creationId xmlns:p14="http://schemas.microsoft.com/office/powerpoint/2010/main" val="47169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64CC-858A-3AA1-187F-FD479CB2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85894"/>
            <a:ext cx="9905998" cy="1030289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5B90-066A-65B4-F1C3-77AE99B5A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1216183"/>
            <a:ext cx="10952480" cy="5641818"/>
          </a:xfrm>
        </p:spPr>
        <p:txBody>
          <a:bodyPr>
            <a:noAutofit/>
          </a:bodyPr>
          <a:lstStyle/>
          <a:p>
            <a:r>
              <a:rPr lang="en-US" sz="2300" dirty="0"/>
              <a:t>Achievements and Limitations:</a:t>
            </a:r>
          </a:p>
          <a:p>
            <a:pPr lvl="1"/>
            <a:r>
              <a:rPr lang="en-US" sz="2300" dirty="0"/>
              <a:t>Acknowledges realized functions but admits experiment limitations.</a:t>
            </a:r>
          </a:p>
          <a:p>
            <a:pPr lvl="1"/>
            <a:r>
              <a:rPr lang="en-US" sz="2300" dirty="0"/>
              <a:t>Identifies shortcomings: single data type, imprecise procedures, and limited innovation.</a:t>
            </a:r>
          </a:p>
          <a:p>
            <a:r>
              <a:rPr lang="en-US" sz="2300" dirty="0"/>
              <a:t>Areas for Improvement:</a:t>
            </a:r>
          </a:p>
          <a:p>
            <a:pPr lvl="1"/>
            <a:r>
              <a:rPr lang="en-US" sz="2300" dirty="0"/>
              <a:t>Emphasizes the need for diversified data, refined procedures, and more innovation.</a:t>
            </a:r>
          </a:p>
          <a:p>
            <a:r>
              <a:rPr lang="en-US" sz="2300" dirty="0"/>
              <a:t>Systematic Understanding:</a:t>
            </a:r>
          </a:p>
          <a:p>
            <a:pPr lvl="1"/>
            <a:r>
              <a:rPr lang="en-US" sz="2300" dirty="0"/>
              <a:t>Despite limitations, gained a more systematic understanding of NLP calculation methods.</a:t>
            </a:r>
          </a:p>
          <a:p>
            <a:r>
              <a:rPr lang="en-US" sz="2300" dirty="0"/>
              <a:t>Hope for Contribution:</a:t>
            </a:r>
          </a:p>
          <a:p>
            <a:pPr lvl="1"/>
            <a:r>
              <a:rPr lang="en-US" sz="2300" dirty="0"/>
              <a:t>Aspires to make a modest contribution to computer machine learning in text </a:t>
            </a:r>
          </a:p>
          <a:p>
            <a:pPr marL="457200" lvl="1" indent="0">
              <a:buNone/>
            </a:pPr>
            <a:r>
              <a:rPr lang="en-US" sz="2300" dirty="0"/>
              <a:t>   processing.</a:t>
            </a:r>
          </a:p>
        </p:txBody>
      </p:sp>
    </p:spTree>
    <p:extLst>
      <p:ext uri="{BB962C8B-B14F-4D97-AF65-F5344CB8AC3E}">
        <p14:creationId xmlns:p14="http://schemas.microsoft.com/office/powerpoint/2010/main" val="1652816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55894351701E4E90A1F9AB7D176BE0" ma:contentTypeVersion="13" ma:contentTypeDescription="Create a new document." ma:contentTypeScope="" ma:versionID="17e70ab9b9076ea667abe33fbe11739b">
  <xsd:schema xmlns:xsd="http://www.w3.org/2001/XMLSchema" xmlns:xs="http://www.w3.org/2001/XMLSchema" xmlns:p="http://schemas.microsoft.com/office/2006/metadata/properties" xmlns:ns3="e710ab9f-e4a4-49e7-9c1e-6c1a0629a22e" xmlns:ns4="4fb5999f-a8bf-402e-83c7-0b7503e638b6" targetNamespace="http://schemas.microsoft.com/office/2006/metadata/properties" ma:root="true" ma:fieldsID="d8f69491a5cc7d07d99e8698d6e61818" ns3:_="" ns4:_="">
    <xsd:import namespace="e710ab9f-e4a4-49e7-9c1e-6c1a0629a22e"/>
    <xsd:import namespace="4fb5999f-a8bf-402e-83c7-0b7503e638b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DateTaken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0ab9f-e4a4-49e7-9c1e-6c1a0629a2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b5999f-a8bf-402e-83c7-0b7503e638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b5999f-a8bf-402e-83c7-0b7503e638b6" xsi:nil="true"/>
  </documentManagement>
</p:properties>
</file>

<file path=customXml/itemProps1.xml><?xml version="1.0" encoding="utf-8"?>
<ds:datastoreItem xmlns:ds="http://schemas.openxmlformats.org/officeDocument/2006/customXml" ds:itemID="{F0A7D9D0-1857-4E60-AEA5-845DE692E1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10ab9f-e4a4-49e7-9c1e-6c1a0629a22e"/>
    <ds:schemaRef ds:uri="4fb5999f-a8bf-402e-83c7-0b7503e638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A1EBC4-F744-40A9-85B7-3095A3A017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6DBD99-2FF2-4FD7-9F8B-D39B17C6AAE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fb5999f-a8bf-402e-83c7-0b7503e638b6"/>
    <ds:schemaRef ds:uri="e710ab9f-e4a4-49e7-9c1e-6c1a0629a22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869</TotalTime>
  <Words>432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Research on Security Model Design Based on Computational Network and Natural Language Processing</vt:lpstr>
      <vt:lpstr>Introduction</vt:lpstr>
      <vt:lpstr>Significance</vt:lpstr>
      <vt:lpstr>Innovation</vt:lpstr>
      <vt:lpstr>Experimental Design</vt:lpstr>
      <vt:lpstr>Results and Analysis</vt:lpstr>
      <vt:lpstr>Discussion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Security Model Design Based on Computational Network and Natural Language Processing</dc:title>
  <dc:creator>Auditing Team</dc:creator>
  <cp:lastModifiedBy>Auditing Team</cp:lastModifiedBy>
  <cp:revision>1</cp:revision>
  <dcterms:created xsi:type="dcterms:W3CDTF">2023-12-12T17:57:53Z</dcterms:created>
  <dcterms:modified xsi:type="dcterms:W3CDTF">2023-12-13T08:27:34Z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0x0101002A55894351701E4E90A1F9AB7D176BE0</vt:lpwstr>
  </property>
</Properties>
</file>