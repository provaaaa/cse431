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6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83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8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50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39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2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91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3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83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1679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88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6265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98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91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9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74C7A-BCD9-4C12-84CC-E98293FB6515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3F853F0-0827-49C4-AEAC-2DF1C3316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47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517EB-9B3D-50C7-F5D7-1E878388D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5719" y="436728"/>
            <a:ext cx="7868284" cy="3614108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accent2"/>
                </a:solidFill>
                <a:latin typeface="Georgia" panose="02040502050405020303" pitchFamily="18" charset="0"/>
              </a:rPr>
              <a:t>Sign Language Recognition and Translation: A Multi-Modal Approach Using Computer Vision and Natural Language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CB1E0-9995-B5EE-CFC3-1D717D7A3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8297" y="4658159"/>
            <a:ext cx="7868283" cy="1885943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Georgia" panose="02040502050405020303" pitchFamily="18" charset="0"/>
              </a:rPr>
              <a:t>Submitted By:</a:t>
            </a:r>
          </a:p>
          <a:p>
            <a:pPr algn="l"/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Georgia" panose="02040502050405020303" pitchFamily="18" charset="0"/>
              </a:rPr>
              <a:t>Ramisa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Georgia" panose="02040502050405020303" pitchFamily="18" charset="0"/>
              </a:rPr>
              <a:t> Fariha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Georgia" panose="02040502050405020303" pitchFamily="18" charset="0"/>
              </a:rPr>
              <a:t>Prova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pPr algn="l"/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Georgia" panose="02040502050405020303" pitchFamily="18" charset="0"/>
              </a:rPr>
              <a:t>ID: 20301001</a:t>
            </a:r>
          </a:p>
          <a:p>
            <a:pPr algn="l"/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Georgia" panose="02040502050405020303" pitchFamily="18" charset="0"/>
              </a:rPr>
              <a:t>Section: 01</a:t>
            </a:r>
          </a:p>
        </p:txBody>
      </p:sp>
    </p:spTree>
    <p:extLst>
      <p:ext uri="{BB962C8B-B14F-4D97-AF65-F5344CB8AC3E}">
        <p14:creationId xmlns:p14="http://schemas.microsoft.com/office/powerpoint/2010/main" val="2874038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484A0-D6C5-AD1A-B429-5211B7EE9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8"/>
            <a:ext cx="8596668" cy="1113762"/>
          </a:xfrm>
        </p:spPr>
        <p:txBody>
          <a:bodyPr>
            <a:normAutofit/>
          </a:bodyPr>
          <a:lstStyle/>
          <a:p>
            <a:r>
              <a:rPr lang="en-US" sz="48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952EE-27AF-4456-F92D-8002A1827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7712"/>
            <a:ext cx="8596668" cy="3773650"/>
          </a:xfrm>
        </p:spPr>
        <p:txBody>
          <a:bodyPr>
            <a:normAutofit/>
          </a:bodyPr>
          <a:lstStyle/>
          <a:p>
            <a:r>
              <a:rPr lang="en-US" sz="3200" dirty="0"/>
              <a:t> Significance of Global Sign Language</a:t>
            </a:r>
          </a:p>
          <a:p>
            <a:r>
              <a:rPr lang="en-US" sz="3200" dirty="0"/>
              <a:t> Over 48 million people in the U.S. experience hearing loss.</a:t>
            </a:r>
          </a:p>
          <a:p>
            <a:r>
              <a:rPr lang="en-US" sz="3200" dirty="0"/>
              <a:t> WHO estimates 2.5 billion individuals with hearing loss by 2050.</a:t>
            </a:r>
          </a:p>
        </p:txBody>
      </p:sp>
    </p:spTree>
    <p:extLst>
      <p:ext uri="{BB962C8B-B14F-4D97-AF65-F5344CB8AC3E}">
        <p14:creationId xmlns:p14="http://schemas.microsoft.com/office/powerpoint/2010/main" val="3499885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091F-5884-A620-73A5-CF9B6E75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14400"/>
            <a:ext cx="8596668" cy="1115568"/>
          </a:xfrm>
        </p:spPr>
        <p:txBody>
          <a:bodyPr>
            <a:normAutofit/>
          </a:bodyPr>
          <a:lstStyle/>
          <a:p>
            <a:r>
              <a:rPr lang="en-US" sz="4800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4FE98-65C2-709A-29F4-EEA571902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395728"/>
            <a:ext cx="8740986" cy="3401568"/>
          </a:xfrm>
        </p:spPr>
        <p:txBody>
          <a:bodyPr>
            <a:normAutofit/>
          </a:bodyPr>
          <a:lstStyle/>
          <a:p>
            <a:r>
              <a:rPr lang="en-US" sz="3200" dirty="0"/>
              <a:t> Challenges in Sign Language Communication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000" dirty="0"/>
              <a:t> Limited understanding and usage.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000" dirty="0"/>
              <a:t> Expensive remedies for mild hearing loss.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000" dirty="0"/>
              <a:t> Importance of non-verbal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135605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6B31C-BD69-49BF-3547-F37D099F7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511808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S2T: Bridging the Sign Language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5793E-7387-A4B8-7B0C-757806E57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87168"/>
            <a:ext cx="8596668" cy="3554194"/>
          </a:xfrm>
        </p:spPr>
        <p:txBody>
          <a:bodyPr>
            <a:normAutofit/>
          </a:bodyPr>
          <a:lstStyle/>
          <a:p>
            <a:r>
              <a:rPr lang="en-US" sz="3200" dirty="0"/>
              <a:t> Recognizes ASL alphabets and custom signs.</a:t>
            </a:r>
          </a:p>
          <a:p>
            <a:r>
              <a:rPr lang="en-US" sz="3200" dirty="0"/>
              <a:t> Converts classifications into text using neural networks.</a:t>
            </a:r>
          </a:p>
          <a:p>
            <a:r>
              <a:rPr lang="en-US" sz="3200" dirty="0"/>
              <a:t> Addresses Computer Vision limitations with Natural Language Processing (NLP).</a:t>
            </a:r>
          </a:p>
        </p:txBody>
      </p:sp>
    </p:spTree>
    <p:extLst>
      <p:ext uri="{BB962C8B-B14F-4D97-AF65-F5344CB8AC3E}">
        <p14:creationId xmlns:p14="http://schemas.microsoft.com/office/powerpoint/2010/main" val="1629115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AFCE-30EA-9B1D-15B2-FFD3E4F14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Sign-to-Text v1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489EB-6C14-2BE6-6CAE-69E6FB4C9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/>
          </a:bodyPr>
          <a:lstStyle/>
          <a:p>
            <a:r>
              <a:rPr lang="en-US" sz="3200" dirty="0"/>
              <a:t> Computer Vision for Gesture Classification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000" dirty="0"/>
              <a:t> </a:t>
            </a:r>
            <a:r>
              <a:rPr lang="en-US" sz="3200" dirty="0"/>
              <a:t>Identifying patterns using image processing.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200" dirty="0"/>
              <a:t> Challenges: lighting, image quality, and nuances in ASL.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200" dirty="0"/>
              <a:t> Accuracy: 82.76%.</a:t>
            </a:r>
          </a:p>
        </p:txBody>
      </p:sp>
    </p:spTree>
    <p:extLst>
      <p:ext uri="{BB962C8B-B14F-4D97-AF65-F5344CB8AC3E}">
        <p14:creationId xmlns:p14="http://schemas.microsoft.com/office/powerpoint/2010/main" val="886649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6CAB8-6C39-FF34-ED53-03AE553C3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78992"/>
            <a:ext cx="8596668" cy="1316736"/>
          </a:xfrm>
        </p:spPr>
        <p:txBody>
          <a:bodyPr>
            <a:noAutofit/>
          </a:bodyPr>
          <a:lstStyle/>
          <a:p>
            <a:r>
              <a:rPr lang="en-US" sz="4800" dirty="0"/>
              <a:t>Sign-to-Text v1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EDE42-F6F3-C826-FA0F-0C7B0C01A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651760"/>
            <a:ext cx="8596668" cy="3389602"/>
          </a:xfrm>
        </p:spPr>
        <p:txBody>
          <a:bodyPr>
            <a:normAutofit/>
          </a:bodyPr>
          <a:lstStyle/>
          <a:p>
            <a:r>
              <a:rPr lang="en-US" sz="3200" dirty="0"/>
              <a:t> Nuances in ASL signs.</a:t>
            </a:r>
          </a:p>
          <a:p>
            <a:r>
              <a:rPr lang="en-US" sz="3200" dirty="0"/>
              <a:t> Limitations of Computer Vision for classifying signer's entire message.</a:t>
            </a:r>
          </a:p>
          <a:p>
            <a:r>
              <a:rPr lang="en-US" sz="3200" dirty="0"/>
              <a:t> Introduction of NLP for improved accuracy.</a:t>
            </a:r>
          </a:p>
        </p:txBody>
      </p:sp>
    </p:spTree>
    <p:extLst>
      <p:ext uri="{BB962C8B-B14F-4D97-AF65-F5344CB8AC3E}">
        <p14:creationId xmlns:p14="http://schemas.microsoft.com/office/powerpoint/2010/main" val="2569367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EDDF-73BB-C9CD-ADFB-D3C1CAB28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3504"/>
            <a:ext cx="8596668" cy="1389888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Natural Language Processing (NLP)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0C2BF-5CA4-190A-E5FC-E244C68EC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68880"/>
            <a:ext cx="8596668" cy="3785616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 Enhancing S2T with NLP</a:t>
            </a:r>
          </a:p>
          <a:p>
            <a:r>
              <a:rPr lang="en-US" sz="3200" dirty="0"/>
              <a:t> Autocorrect, Context Awareness, and Machine Translation.</a:t>
            </a:r>
          </a:p>
          <a:p>
            <a:r>
              <a:rPr lang="en-US" sz="3200" dirty="0"/>
              <a:t> Autocorrect: Identifying and resolving misspelled words.</a:t>
            </a:r>
          </a:p>
          <a:p>
            <a:r>
              <a:rPr lang="en-US" sz="3200" dirty="0"/>
              <a:t> Context Awareness: Retaining original context for accurate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880314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0289-AD40-0F3E-FAC4-0B762D0EE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87552"/>
            <a:ext cx="8596668" cy="1115568"/>
          </a:xfrm>
        </p:spPr>
        <p:txBody>
          <a:bodyPr>
            <a:normAutofit/>
          </a:bodyPr>
          <a:lstStyle/>
          <a:p>
            <a:r>
              <a:rPr lang="en-US" sz="4800" dirty="0"/>
              <a:t>Autocorrection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EB5CF-F6E9-E58C-42AD-C1E64BCB5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395728"/>
            <a:ext cx="8596668" cy="3968496"/>
          </a:xfrm>
        </p:spPr>
        <p:txBody>
          <a:bodyPr>
            <a:normAutofit/>
          </a:bodyPr>
          <a:lstStyle/>
          <a:p>
            <a:r>
              <a:rPr lang="en-US" sz="3200" dirty="0"/>
              <a:t> Evaluation of Different Algorithms (Needleman-Wunsch, </a:t>
            </a:r>
            <a:r>
              <a:rPr lang="en-US" sz="3200" dirty="0" err="1"/>
              <a:t>TextBlob</a:t>
            </a:r>
            <a:r>
              <a:rPr lang="en-US" sz="3200" dirty="0"/>
              <a:t>, Minimum Edit Distance, </a:t>
            </a:r>
            <a:r>
              <a:rPr lang="en-US" sz="3200" dirty="0" err="1"/>
              <a:t>Damerau-Levenshtein</a:t>
            </a:r>
            <a:r>
              <a:rPr lang="en-US" sz="3200" dirty="0"/>
              <a:t>)</a:t>
            </a:r>
          </a:p>
          <a:p>
            <a:r>
              <a:rPr lang="en-US" sz="3200" dirty="0"/>
              <a:t> Context Awareness improves all algorithms.</a:t>
            </a:r>
          </a:p>
          <a:p>
            <a:r>
              <a:rPr lang="en-US" sz="3200" dirty="0"/>
              <a:t> Minimum Edit Distance (CA) outperforms, fixing 63.25% errors.</a:t>
            </a:r>
          </a:p>
        </p:txBody>
      </p:sp>
    </p:spTree>
    <p:extLst>
      <p:ext uri="{BB962C8B-B14F-4D97-AF65-F5344CB8AC3E}">
        <p14:creationId xmlns:p14="http://schemas.microsoft.com/office/powerpoint/2010/main" val="2435027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7B1A-7109-1D96-1073-7A478FF00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42416"/>
            <a:ext cx="8596668" cy="1243584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4800" dirty="0"/>
              <a:t>Machine Translation (MT)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65033-FA33-B881-F72C-29A5394B1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14016"/>
            <a:ext cx="8596668" cy="4059936"/>
          </a:xfrm>
        </p:spPr>
        <p:txBody>
          <a:bodyPr>
            <a:normAutofit/>
          </a:bodyPr>
          <a:lstStyle/>
          <a:p>
            <a:r>
              <a:rPr lang="en-US" sz="3200" dirty="0"/>
              <a:t> Transformer and IBM Models: BLEU-4 and ROUGE-1 metrics.</a:t>
            </a:r>
          </a:p>
          <a:p>
            <a:r>
              <a:rPr lang="en-US" sz="3200" dirty="0"/>
              <a:t> Transformer achieves 31.758 BLEU, 0.534 ROUGE-1.</a:t>
            </a:r>
          </a:p>
          <a:p>
            <a:r>
              <a:rPr lang="en-US" sz="3200" dirty="0"/>
              <a:t> IBM Models show poor performance.</a:t>
            </a:r>
          </a:p>
        </p:txBody>
      </p:sp>
    </p:spTree>
    <p:extLst>
      <p:ext uri="{BB962C8B-B14F-4D97-AF65-F5344CB8AC3E}">
        <p14:creationId xmlns:p14="http://schemas.microsoft.com/office/powerpoint/2010/main" val="2880899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16D9-A041-28A5-C472-0682C977A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93648"/>
            <a:ext cx="8596668" cy="1320800"/>
          </a:xfrm>
        </p:spPr>
        <p:txBody>
          <a:bodyPr>
            <a:normAutofit/>
          </a:bodyPr>
          <a:lstStyle/>
          <a:p>
            <a:r>
              <a:rPr lang="en-US" sz="4800" dirty="0"/>
              <a:t>Results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CD620-9793-DE91-E571-B69EEAA31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314448"/>
            <a:ext cx="8596668" cy="4159504"/>
          </a:xfrm>
        </p:spPr>
        <p:txBody>
          <a:bodyPr>
            <a:normAutofit/>
          </a:bodyPr>
          <a:lstStyle/>
          <a:p>
            <a:r>
              <a:rPr lang="en-US" sz="3200" dirty="0"/>
              <a:t> Autocorrection and MT Performance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000" dirty="0"/>
              <a:t> </a:t>
            </a:r>
            <a:r>
              <a:rPr lang="en-US" sz="3200" dirty="0"/>
              <a:t>Autocorrect achieves 63.25% error correction, enhancing MT.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200" dirty="0"/>
              <a:t> Transformer's slight decrease in BLEU compared to a different dataset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200" dirty="0"/>
              <a:t> Evaluation challenges for SMT</a:t>
            </a:r>
          </a:p>
        </p:txBody>
      </p:sp>
    </p:spTree>
    <p:extLst>
      <p:ext uri="{BB962C8B-B14F-4D97-AF65-F5344CB8AC3E}">
        <p14:creationId xmlns:p14="http://schemas.microsoft.com/office/powerpoint/2010/main" val="2681471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298B3-39A0-EBF4-8067-571E68BF0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8"/>
            <a:ext cx="8596668" cy="1113762"/>
          </a:xfrm>
        </p:spPr>
        <p:txBody>
          <a:bodyPr>
            <a:normAutofit/>
          </a:bodyPr>
          <a:lstStyle/>
          <a:p>
            <a:r>
              <a:rPr lang="en-US" sz="4800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B3599-C56F-782F-6923-F3716EFC9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 Multi-modal approach enhances sign language translation.</a:t>
            </a:r>
          </a:p>
          <a:p>
            <a:r>
              <a:rPr lang="en-US" sz="3200" dirty="0"/>
              <a:t> Autocorrect significantly improves error correction.</a:t>
            </a:r>
          </a:p>
          <a:p>
            <a:r>
              <a:rPr lang="en-US" sz="3200" dirty="0"/>
              <a:t> Transformer's performance slightly subpar, SMT shows limitations.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531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C5388-9B7D-6544-F725-C1B725E97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6592"/>
          </a:xfrm>
        </p:spPr>
        <p:txBody>
          <a:bodyPr>
            <a:normAutofit/>
          </a:bodyPr>
          <a:lstStyle/>
          <a:p>
            <a:r>
              <a:rPr lang="en-US" sz="4800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1905-0C4D-1166-B907-A60434627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47088"/>
            <a:ext cx="8795850" cy="4718304"/>
          </a:xfrm>
        </p:spPr>
        <p:txBody>
          <a:bodyPr>
            <a:noAutofit/>
          </a:bodyPr>
          <a:lstStyle/>
          <a:p>
            <a:r>
              <a:rPr lang="en-US" sz="2800" dirty="0"/>
              <a:t>Improving Autocorrect and Hybrid Approaches</a:t>
            </a:r>
          </a:p>
          <a:p>
            <a:r>
              <a:rPr lang="en-US" sz="2800" dirty="0"/>
              <a:t>Emphasizing weights for classification groups in autocorrect.</a:t>
            </a:r>
          </a:p>
          <a:p>
            <a:r>
              <a:rPr lang="en-US" sz="2800" dirty="0"/>
              <a:t>Advanced context awareness methods like Viterbi algorithm.</a:t>
            </a:r>
          </a:p>
          <a:p>
            <a:r>
              <a:rPr lang="en-US" sz="2800" dirty="0"/>
              <a:t>Integration of BERT models for accurate predictions.</a:t>
            </a:r>
          </a:p>
          <a:p>
            <a:r>
              <a:rPr lang="en-US" sz="2800" dirty="0"/>
              <a:t>Development of a confidence-driven hybrid approach.</a:t>
            </a:r>
          </a:p>
        </p:txBody>
      </p:sp>
    </p:spTree>
    <p:extLst>
      <p:ext uri="{BB962C8B-B14F-4D97-AF65-F5344CB8AC3E}">
        <p14:creationId xmlns:p14="http://schemas.microsoft.com/office/powerpoint/2010/main" val="2677261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B156-E5F3-0746-5B04-49278DE8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46" y="2816352"/>
            <a:ext cx="8596668" cy="1273048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106003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</TotalTime>
  <Words>400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Georgia</vt:lpstr>
      <vt:lpstr>Trebuchet MS</vt:lpstr>
      <vt:lpstr>Wingdings</vt:lpstr>
      <vt:lpstr>Wingdings 3</vt:lpstr>
      <vt:lpstr>Facet</vt:lpstr>
      <vt:lpstr>Sign Language Recognition and Translation: A Multi-Modal Approach Using Computer Vision and Natural Language Processing</vt:lpstr>
      <vt:lpstr>Introduction</vt:lpstr>
      <vt:lpstr>Motivation</vt:lpstr>
      <vt:lpstr>S2T: Bridging the Sign Language Gap</vt:lpstr>
      <vt:lpstr>Sign-to-Text v1</vt:lpstr>
      <vt:lpstr>Sign-to-Text v1 Limitations</vt:lpstr>
      <vt:lpstr>Natural Language Processing (NLP)</vt:lpstr>
      <vt:lpstr>Autocorrection Techniques</vt:lpstr>
      <vt:lpstr> Machine Translation (MT)</vt:lpstr>
      <vt:lpstr>Results Analysis</vt:lpstr>
      <vt:lpstr>Conclusions</vt:lpstr>
      <vt:lpstr>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 Language Recognition and Translation: A Multi-Modal Approach Using Computer Vision and Natural Language Processing</dc:title>
  <dc:creator>Auditing Team</dc:creator>
  <cp:lastModifiedBy>Auditing Team</cp:lastModifiedBy>
  <cp:revision>3</cp:revision>
  <dcterms:created xsi:type="dcterms:W3CDTF">2023-12-12T16:33:02Z</dcterms:created>
  <dcterms:modified xsi:type="dcterms:W3CDTF">2023-12-12T17:57:38Z</dcterms:modified>
</cp:coreProperties>
</file>